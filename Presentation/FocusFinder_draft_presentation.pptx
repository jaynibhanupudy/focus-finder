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5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A4616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05840"/>
            <a:ext cx="868680" cy="868680"/>
          </a:xfrm>
          <a:prstGeom prst="rect">
            <a:avLst/>
          </a:prstGeom>
          <a:solidFill>
            <a:srgbClr val="FA461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FINDER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campus noise monitoring for students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4389120"/>
            <a:ext cx="4114800" cy="17373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4800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Elias Aschenbrenner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 Nibhanupudy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 Krasuski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Shiner Supre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12080" y="4389120"/>
            <a:ext cx="5943600" cy="17373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1" name="Text 9"/>
          <p:cNvSpPr/>
          <p:nvPr/>
        </p:nvSpPr>
        <p:spPr>
          <a:xfrm>
            <a:off x="54406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40680" y="4800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CIS4930 · Full Stack IoT Development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Herbert Wertheim College of Engineering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Florida · Spring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A46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study space shouldn't be a scavenger hunt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0" cy="12801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ambient noise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impairs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7614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tasks, concentration, and problem-solving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5486400" cy="1280160"/>
          </a:xfrm>
          <a:prstGeom prst="rect">
            <a:avLst/>
          </a:prstGeom>
          <a:solidFill>
            <a:srgbClr val="FFE6DB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383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BEHAVIOR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Building-to-building hunting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waste time between classes searching for a spot that's actually quiet — often showing up to a library floor only to turn around.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FALL SHORT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011680"/>
            <a:ext cx="182880" cy="182880"/>
          </a:xfrm>
          <a:prstGeom prst="ellipse">
            <a:avLst/>
          </a:prstGeom>
          <a:solidFill>
            <a:srgbClr val="FA4616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8745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SoundPrint &amp; similar apps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20840" y="22585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subjective ratings — no sensors, no live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2926080"/>
            <a:ext cx="182880" cy="182880"/>
          </a:xfrm>
          <a:prstGeom prst="ellipse">
            <a:avLst/>
          </a:prstGeom>
          <a:solidFill>
            <a:srgbClr val="FA4616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7889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City-scale noise maps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31729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urban planning — wrong scale for a campus library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3840480"/>
            <a:ext cx="182880" cy="182880"/>
          </a:xfrm>
          <a:prstGeom prst="ellipse">
            <a:avLst/>
          </a:prstGeom>
          <a:solidFill>
            <a:srgbClr val="FA4616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37033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camera occupancy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40873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bodies, not decibels; people can be silent or loud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11247120" cy="14173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029200"/>
            <a:ext cx="548640" cy="5486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32588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FUNCTIONAL REQUIREMENTS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325880" y="52760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noise objectively · Deliver it live · Show it where students already look — their phone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25880" y="56692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Level-4 distributed IoT system: multiple sensor nodes sample dB locally, push through a gateway to the cloud, </a:t>
            </a:r>
            <a:pPr indent="0" marL="0">
              <a:buNone/>
            </a:pPr>
            <a:r>
              <a:rPr lang="en-US" sz="12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render a mobile-friendly campus heat map with live updates and historical trends.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772400" y="653796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Finder  ·  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A46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SYSTEM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Level-4 IoT: sensors → gateway → cloud → phone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2514600" cy="3200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NODES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22860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sensors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291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 MEMS mic (I²S)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IMU (I²C)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every 3 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81528" y="2807208"/>
            <a:ext cx="228600" cy="164592"/>
          </a:xfrm>
          <a:prstGeom prst="line">
            <a:avLst/>
          </a:prstGeom>
          <a:noFill/>
          <a:ln w="50800">
            <a:solidFill>
              <a:srgbClr val="FA4616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 flipV="1">
            <a:off x="3081528" y="2971800"/>
            <a:ext cx="228600" cy="164592"/>
          </a:xfrm>
          <a:prstGeom prst="line">
            <a:avLst/>
          </a:prstGeom>
          <a:noFill/>
          <a:ln w="50800">
            <a:solidFill>
              <a:srgbClr val="FA4616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3474720" y="178308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1783080"/>
            <a:ext cx="2514600" cy="3200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5" name="Text 12"/>
          <p:cNvSpPr/>
          <p:nvPr/>
        </p:nvSpPr>
        <p:spPr>
          <a:xfrm>
            <a:off x="3611880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LINK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28600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66160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657600" y="3291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Peer-to-peer, no router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B payload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if WiFi drops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aggregates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99048" y="2807208"/>
            <a:ext cx="228600" cy="164592"/>
          </a:xfrm>
          <a:prstGeom prst="line">
            <a:avLst/>
          </a:prstGeom>
          <a:noFill/>
          <a:ln w="50800">
            <a:solidFill>
              <a:srgbClr val="FA4616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 flipV="1">
            <a:off x="6099048" y="2971800"/>
            <a:ext cx="228600" cy="164592"/>
          </a:xfrm>
          <a:prstGeom prst="line">
            <a:avLst/>
          </a:prstGeom>
          <a:noFill/>
          <a:ln w="50800">
            <a:solidFill>
              <a:srgbClr val="FA4616"/>
            </a:solidFill>
            <a:prstDash val="solid"/>
            <a:headEnd type="none"/>
            <a:tailEnd type="none"/>
          </a:ln>
        </p:spPr>
      </p:sp>
      <p:sp>
        <p:nvSpPr>
          <p:cNvPr id="21" name="Shape 17"/>
          <p:cNvSpPr/>
          <p:nvPr/>
        </p:nvSpPr>
        <p:spPr>
          <a:xfrm>
            <a:off x="6492240" y="178308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92240" y="1783080"/>
            <a:ext cx="2514600" cy="3200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3" name="Text 19"/>
          <p:cNvSpPr/>
          <p:nvPr/>
        </p:nvSpPr>
        <p:spPr>
          <a:xfrm>
            <a:off x="6629400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228600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DB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675120" y="3291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POSTs via HTTPS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/readings/{node_id}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 validate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+ API key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9116568" y="2807208"/>
            <a:ext cx="228600" cy="164592"/>
          </a:xfrm>
          <a:prstGeom prst="line">
            <a:avLst/>
          </a:prstGeom>
          <a:noFill/>
          <a:ln w="50800">
            <a:solidFill>
              <a:srgbClr val="FA4616"/>
            </a:solidFill>
            <a:prstDash val="solid"/>
            <a:headEnd type="none"/>
            <a:tailEnd type="none"/>
          </a:ln>
        </p:spPr>
      </p:sp>
      <p:sp>
        <p:nvSpPr>
          <p:cNvPr id="28" name="Shape 23"/>
          <p:cNvSpPr/>
          <p:nvPr/>
        </p:nvSpPr>
        <p:spPr>
          <a:xfrm flipV="1">
            <a:off x="9116568" y="2971800"/>
            <a:ext cx="228600" cy="164592"/>
          </a:xfrm>
          <a:prstGeom prst="line">
            <a:avLst/>
          </a:prstGeom>
          <a:noFill/>
          <a:ln w="50800">
            <a:solidFill>
              <a:srgbClr val="FA4616"/>
            </a:solidFill>
            <a:prstDash val="solid"/>
            <a:headEnd type="none"/>
            <a:tailEnd type="none"/>
          </a:ln>
        </p:spPr>
      </p:sp>
      <p:sp>
        <p:nvSpPr>
          <p:cNvPr id="29" name="Shape 24"/>
          <p:cNvSpPr/>
          <p:nvPr/>
        </p:nvSpPr>
        <p:spPr>
          <a:xfrm>
            <a:off x="9509760" y="178308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509760" y="1783080"/>
            <a:ext cx="2514600" cy="3200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1" name="Text 26"/>
          <p:cNvSpPr/>
          <p:nvPr/>
        </p:nvSpPr>
        <p:spPr>
          <a:xfrm>
            <a:off x="9646920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7020" y="2286000"/>
            <a:ext cx="640080" cy="6400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601200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PWA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9692640" y="3291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SDK onValue()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heat map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+ history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UI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57200" y="4434840"/>
            <a:ext cx="11247120" cy="822960"/>
          </a:xfrm>
          <a:prstGeom prst="rect">
            <a:avLst/>
          </a:prstGeom>
          <a:solidFill>
            <a:srgbClr val="FFE6DB"/>
          </a:solidFill>
          <a:ln w="12700">
            <a:solidFill>
              <a:srgbClr val="FA4616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17720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234440" y="44988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CHANGE FROM PROPOSAL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1234440" y="4773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nodes no longer POST directly to Firebase. They now use ESP-NOW to a gateway ESP32, which handles the HTTPS leg. This satisfies our multi-MCU requirement, reduces per-node battery draw, and keeps Wi-Fi credentials off every sensor.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457200" y="5440680"/>
            <a:ext cx="2139696" cy="10058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40" name="Text 33"/>
          <p:cNvSpPr/>
          <p:nvPr/>
        </p:nvSpPr>
        <p:spPr>
          <a:xfrm>
            <a:off x="457200" y="548640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1" name="Text 34"/>
          <p:cNvSpPr/>
          <p:nvPr/>
        </p:nvSpPr>
        <p:spPr>
          <a:xfrm>
            <a:off x="457200" y="59893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nodes (demo)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2734056" y="5440680"/>
            <a:ext cx="2139696" cy="10058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43" name="Text 36"/>
          <p:cNvSpPr/>
          <p:nvPr/>
        </p:nvSpPr>
        <p:spPr>
          <a:xfrm>
            <a:off x="2734056" y="548640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4" name="Text 37"/>
          <p:cNvSpPr/>
          <p:nvPr/>
        </p:nvSpPr>
        <p:spPr>
          <a:xfrm>
            <a:off x="2734056" y="59893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MCU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5010912" y="5440680"/>
            <a:ext cx="2139696" cy="10058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46" name="Text 39"/>
          <p:cNvSpPr/>
          <p:nvPr/>
        </p:nvSpPr>
        <p:spPr>
          <a:xfrm>
            <a:off x="5010912" y="548640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</a:t>
            </a:r>
            <a:endParaRPr lang="en-US" sz="2800" dirty="0"/>
          </a:p>
        </p:txBody>
      </p:sp>
      <p:sp>
        <p:nvSpPr>
          <p:cNvPr id="47" name="Text 40"/>
          <p:cNvSpPr/>
          <p:nvPr/>
        </p:nvSpPr>
        <p:spPr>
          <a:xfrm>
            <a:off x="5010912" y="59893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interval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7287768" y="5440680"/>
            <a:ext cx="2139696" cy="10058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49" name="Text 42"/>
          <p:cNvSpPr/>
          <p:nvPr/>
        </p:nvSpPr>
        <p:spPr>
          <a:xfrm>
            <a:off x="7287768" y="548640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50" name="Text 43"/>
          <p:cNvSpPr/>
          <p:nvPr/>
        </p:nvSpPr>
        <p:spPr>
          <a:xfrm>
            <a:off x="7287768" y="59893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types per node</a:t>
            </a:r>
            <a:endParaRPr lang="en-US" sz="1100" dirty="0"/>
          </a:p>
        </p:txBody>
      </p:sp>
      <p:sp>
        <p:nvSpPr>
          <p:cNvPr id="51" name="Shape 44"/>
          <p:cNvSpPr/>
          <p:nvPr/>
        </p:nvSpPr>
        <p:spPr>
          <a:xfrm>
            <a:off x="9564624" y="5440680"/>
            <a:ext cx="2139696" cy="10058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52" name="Text 45"/>
          <p:cNvSpPr/>
          <p:nvPr/>
        </p:nvSpPr>
        <p:spPr>
          <a:xfrm>
            <a:off x="9564624" y="548640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s</a:t>
            </a:r>
            <a:endParaRPr lang="en-US" sz="2800" dirty="0"/>
          </a:p>
        </p:txBody>
      </p:sp>
      <p:sp>
        <p:nvSpPr>
          <p:cNvPr id="53" name="Text 46"/>
          <p:cNvSpPr/>
          <p:nvPr/>
        </p:nvSpPr>
        <p:spPr>
          <a:xfrm>
            <a:off x="9564624" y="59893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</a:t>
            </a:r>
            <a:endParaRPr lang="en-US" sz="1100" dirty="0"/>
          </a:p>
        </p:txBody>
      </p:sp>
      <p:sp>
        <p:nvSpPr>
          <p:cNvPr id="54" name="Shap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55" name="Text 48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Architecture</a:t>
            </a:r>
            <a:endParaRPr lang="en-US" sz="1000" dirty="0"/>
          </a:p>
        </p:txBody>
      </p:sp>
      <p:sp>
        <p:nvSpPr>
          <p:cNvPr id="56" name="Text 49"/>
          <p:cNvSpPr/>
          <p:nvPr/>
        </p:nvSpPr>
        <p:spPr>
          <a:xfrm>
            <a:off x="7772400" y="653796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Finder  ·  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A46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HARDWARE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and MCU features we leverage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760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73152" cy="1280160"/>
          </a:xfrm>
          <a:prstGeom prst="rect">
            <a:avLst/>
          </a:prstGeom>
          <a:solidFill>
            <a:srgbClr val="FA461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02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 MEMS Microphone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2080" y="1847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71600" y="217627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16 kHz / 32-bit PCM samples. We compute a rolling RMS on-chip and only ship the derived dB value — raw audio never leaves the device.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154680"/>
            <a:ext cx="5760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154680"/>
            <a:ext cx="73152" cy="1280160"/>
          </a:xfrm>
          <a:prstGeom prst="rect">
            <a:avLst/>
          </a:prstGeom>
          <a:solidFill>
            <a:srgbClr val="FA461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375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3264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IMU (accel + gyro)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212080" y="3264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371600" y="359359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polled for tilt/shock. If readings cross a threshold the node flags 'tamper' — critical for public-space deployment.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4572000"/>
            <a:ext cx="5760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4572000"/>
            <a:ext cx="73152" cy="1280160"/>
          </a:xfrm>
          <a:prstGeom prst="rect">
            <a:avLst/>
          </a:prstGeom>
          <a:solidFill>
            <a:srgbClr val="FA461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75488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4681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212080" y="4681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(pulse)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371600" y="501091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during development for presence sensing — distinguishes 'room is empty and quiet' from 'room is occupied and quiet'.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46520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ESP32-WROOM-32 · FEATURES USED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446520" y="1737360"/>
            <a:ext cx="5303520" cy="3108960"/>
          </a:xfrm>
          <a:prstGeom prst="rect">
            <a:avLst/>
          </a:prstGeom>
          <a:solidFill>
            <a:srgbClr val="0E2548"/>
          </a:solidFill>
          <a:ln/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83680" y="1965960"/>
            <a:ext cx="137160" cy="137160"/>
          </a:xfrm>
          <a:prstGeom prst="ellipse">
            <a:avLst/>
          </a:prstGeom>
          <a:solidFill>
            <a:srgbClr val="FA4616"/>
          </a:solidFill>
          <a:ln/>
        </p:spPr>
      </p:sp>
      <p:sp>
        <p:nvSpPr>
          <p:cNvPr id="27" name="Text 22"/>
          <p:cNvSpPr/>
          <p:nvPr/>
        </p:nvSpPr>
        <p:spPr>
          <a:xfrm>
            <a:off x="681228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Xtensa LX6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812280" y="2148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DSP on one core, radio + housekeeping on the other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583680" y="2542032"/>
            <a:ext cx="137160" cy="137160"/>
          </a:xfrm>
          <a:prstGeom prst="ellipse">
            <a:avLst/>
          </a:prstGeom>
          <a:solidFill>
            <a:srgbClr val="FA4616"/>
          </a:solidFill>
          <a:ln/>
        </p:spPr>
      </p:sp>
      <p:sp>
        <p:nvSpPr>
          <p:cNvPr id="30" name="Text 25"/>
          <p:cNvSpPr/>
          <p:nvPr/>
        </p:nvSpPr>
        <p:spPr>
          <a:xfrm>
            <a:off x="6812280" y="24505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I²S peripheral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812280" y="2724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Clocks the INMP441 without CPU-bit-banging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583680" y="3118104"/>
            <a:ext cx="137160" cy="137160"/>
          </a:xfrm>
          <a:prstGeom prst="ellipse">
            <a:avLst/>
          </a:prstGeom>
          <a:solidFill>
            <a:srgbClr val="FA4616"/>
          </a:solidFill>
          <a:ln/>
        </p:spPr>
      </p:sp>
      <p:sp>
        <p:nvSpPr>
          <p:cNvPr id="33" name="Text 28"/>
          <p:cNvSpPr/>
          <p:nvPr/>
        </p:nvSpPr>
        <p:spPr>
          <a:xfrm>
            <a:off x="6812280" y="30266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 radio mode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6812280" y="3300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 peer protocol — no AP or IP stack needed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583680" y="3694176"/>
            <a:ext cx="137160" cy="137160"/>
          </a:xfrm>
          <a:prstGeom prst="ellipse">
            <a:avLst/>
          </a:prstGeom>
          <a:solidFill>
            <a:srgbClr val="FA4616"/>
          </a:solidFill>
          <a:ln/>
        </p:spPr>
      </p:sp>
      <p:sp>
        <p:nvSpPr>
          <p:cNvPr id="36" name="Text 31"/>
          <p:cNvSpPr/>
          <p:nvPr/>
        </p:nvSpPr>
        <p:spPr>
          <a:xfrm>
            <a:off x="6812280" y="36027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Station-mode Wi-Fi + TLS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6812280" y="38770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on the gateway for the HTTPS hop to Firebase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6583680" y="4270248"/>
            <a:ext cx="137160" cy="137160"/>
          </a:xfrm>
          <a:prstGeom prst="ellipse">
            <a:avLst/>
          </a:prstGeom>
          <a:solidFill>
            <a:srgbClr val="FA4616"/>
          </a:solidFill>
          <a:ln/>
        </p:spPr>
      </p:sp>
      <p:sp>
        <p:nvSpPr>
          <p:cNvPr id="39" name="Text 34"/>
          <p:cNvSpPr/>
          <p:nvPr/>
        </p:nvSpPr>
        <p:spPr>
          <a:xfrm>
            <a:off x="6812280" y="4178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Deep-sleep capable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6812280" y="44531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the battery strategy in the sustainability slide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446520" y="5029200"/>
            <a:ext cx="5303520" cy="141732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42" name="Text 37"/>
          <p:cNvSpPr/>
          <p:nvPr/>
        </p:nvSpPr>
        <p:spPr>
          <a:xfrm>
            <a:off x="662940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AT A GLANCE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6629400" y="53949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 </a:t>
            </a:r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SCK 26, WS 25, SD 23 (I²S0)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</a:t>
            </a:r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SDA 21, SCL 22 (I²C, 0x68)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</a:t>
            </a:r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TRIG 18, ECHO 19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</a:t>
            </a:r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USB-C, 3V3 rail, common GND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57200" y="5989320"/>
            <a:ext cx="5760720" cy="4572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5" name="Text 40"/>
          <p:cNvSpPr/>
          <p:nvPr/>
        </p:nvSpPr>
        <p:spPr>
          <a:xfrm>
            <a:off x="548640" y="59893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3D-printed, smoke-detector-sized shells mounted on walls/ceilings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47" name="Text 42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Hardware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7772400" y="653796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Finder  ·  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A46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COMMUNICATION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hops: ESP-NOW locally, HTTPS to the cloud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40680" cy="10972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1 · Sensor → Gateway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556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 ESP-proprietary peer protocol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point needed — works if campus Wi-Fi drops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~250-byte packed struct, microsecond-class latency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TCP/IP stack on the sensor — smaller firmware footprint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never holds Wi-Fi credentials — smaller attack surface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encryption by default at our range — acceptable because packets carry only a dB value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Best-effort delivery, so we accept occasional drops and rely on the 3-s cadence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54406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417320"/>
            <a:ext cx="5440680" cy="10972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481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2 · Gateway → Cloud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17556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REST (JSON)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 over Wi-Fi to Firebase Realtime DB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651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9260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in transit — mitigates MITM on open campus networks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REST surface: cloud functions validate API key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is self-describing — easy to evolve the schema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handles reconnect, caching, and fan-out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4754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50292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handshake is expensive — centralizing it on one gateway is the whole reason we split hops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▶"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gateway is a failure point — future: secondary gateway on a different SSID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Communication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653796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Finder  ·  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A46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CLOUD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DB + Cloud Functions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7607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45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NoSQL FOR THIS 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1920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are time-series documents keyed by node — no joins, no foreign keys, just append and fan out.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5146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SQL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0" y="2514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DB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85800" y="2788920"/>
            <a:ext cx="233172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788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ceremony  ✗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08960" y="2788920"/>
            <a:ext cx="301752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2788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add battery_pct, tamper, distance_cm as sensors evolved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3566160"/>
            <a:ext cx="233172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566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Join-heavy reporting  ✗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108960" y="3566160"/>
            <a:ext cx="301752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0" y="3566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path per node; chart code just iterates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5800" y="4343400"/>
            <a:ext cx="233172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343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locking  ✗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108960" y="4343400"/>
            <a:ext cx="301752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Text 19"/>
          <p:cNvSpPr/>
          <p:nvPr/>
        </p:nvSpPr>
        <p:spPr>
          <a:xfrm>
            <a:off x="3200400" y="4343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Last-write-wins push is fine — readings are immutable once stored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85800" y="5120640"/>
            <a:ext cx="233172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5120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 ✗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108960" y="5120640"/>
            <a:ext cx="301752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6" name="Text 23"/>
          <p:cNvSpPr/>
          <p:nvPr/>
        </p:nvSpPr>
        <p:spPr>
          <a:xfrm>
            <a:off x="3200400" y="5120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onValue() listeners push updates to the client in real time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46520" y="1417320"/>
            <a:ext cx="5303520" cy="2331720"/>
          </a:xfrm>
          <a:prstGeom prst="rect">
            <a:avLst/>
          </a:prstGeom>
          <a:solidFill>
            <a:srgbClr val="0E2548"/>
          </a:solidFill>
          <a:ln/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502920" cy="5029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223760" y="1600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STORY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629400" y="196596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nodes × 1 reading / 3 s  =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86,400 writes / day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within Firebase's free Spark tier.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campus (100 nodes) = 2.88M writes / day — stays affordable with a 1-min downsample function writing only aggregates.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446520" y="3886200"/>
            <a:ext cx="5303520" cy="256032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32" name="Text 28"/>
          <p:cNvSpPr/>
          <p:nvPr/>
        </p:nvSpPr>
        <p:spPr>
          <a:xfrm>
            <a:off x="662940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RECORD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629400" y="4251960"/>
            <a:ext cx="5029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/readings/{node_id}.push({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noise_db:     58,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accel_x/y/z:  0.03, -0.01, 0.99,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gyro_x/y/z:   0.8,  1.2,  -0.1,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distance_cm:  142.3,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battery_pct:  87,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timestamp:    1732818600123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35" name="Text 31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Cloud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7772400" y="653796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Finder  ·  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A46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CLIENT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PWA — architecture and accessibility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76072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1783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tree, hot-reloaded in dev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5760720" cy="640080"/>
          </a:xfrm>
          <a:prstGeom prst="rect">
            <a:avLst/>
          </a:prstGeom>
          <a:solidFill>
            <a:srgbClr val="2C56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Web SDK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2560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onValue() subscriptions push live updates into useState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5760720" cy="640080"/>
          </a:xfrm>
          <a:prstGeom prst="rect">
            <a:avLst/>
          </a:prstGeom>
          <a:solidFill>
            <a:srgbClr val="CAD8E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37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+ SVG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charts; floor plan hand-rolled in SVG for exact zoning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CLIENT-HEAVY SPA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to maintain beyond Firebase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phone subscribes directly; live updates without polling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a static bundle → trivial caching / offline fallback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58521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lives in the browser — if we needed multi-writer consistency or complex permissions, we'd move compute to Cloud Functions.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1417320"/>
            <a:ext cx="5303520" cy="49377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00200"/>
            <a:ext cx="502920" cy="5029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223760" y="1600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BY DESIGN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629400" y="1965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 is information students act on in seconds — glance-first UX was a hard requirement.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675120" y="2697480"/>
            <a:ext cx="182880" cy="182880"/>
          </a:xfrm>
          <a:prstGeom prst="ellipse">
            <a:avLst/>
          </a:prstGeom>
          <a:solidFill>
            <a:srgbClr val="FA4616"/>
          </a:solidFill>
          <a:ln/>
        </p:spPr>
      </p:sp>
      <p:sp>
        <p:nvSpPr>
          <p:cNvPr id="24" name="Text 21"/>
          <p:cNvSpPr/>
          <p:nvPr/>
        </p:nvSpPr>
        <p:spPr>
          <a:xfrm>
            <a:off x="694944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+ text always paired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49440" y="2862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Quiet/Moderate/Loud bands are labelled, not colour-only — works for colour-vision deficiency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675120" y="3291840"/>
            <a:ext cx="182880" cy="182880"/>
          </a:xfrm>
          <a:prstGeom prst="ellipse">
            <a:avLst/>
          </a:prstGeom>
          <a:solidFill>
            <a:srgbClr val="FA4616"/>
          </a:solidFill>
          <a:ln/>
        </p:spPr>
      </p:sp>
      <p:sp>
        <p:nvSpPr>
          <p:cNvPr id="27" name="Text 24"/>
          <p:cNvSpPr/>
          <p:nvPr/>
        </p:nvSpPr>
        <p:spPr>
          <a:xfrm>
            <a:off x="6949440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WCAG-AA contrast on every dB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49440" y="3456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(#1A3A6B) on white, orange accents tested with axe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675120" y="3886200"/>
            <a:ext cx="182880" cy="182880"/>
          </a:xfrm>
          <a:prstGeom prst="ellipse">
            <a:avLst/>
          </a:prstGeom>
          <a:solidFill>
            <a:srgbClr val="FA4616"/>
          </a:solidFill>
          <a:ln/>
        </p:spPr>
      </p:sp>
      <p:sp>
        <p:nvSpPr>
          <p:cNvPr id="30" name="Text 27"/>
          <p:cNvSpPr/>
          <p:nvPr/>
        </p:nvSpPr>
        <p:spPr>
          <a:xfrm>
            <a:off x="6949440" y="3794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required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949440" y="40507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a barrier for students between classes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675120" y="4480560"/>
            <a:ext cx="182880" cy="182880"/>
          </a:xfrm>
          <a:prstGeom prst="ellipse">
            <a:avLst/>
          </a:prstGeom>
          <a:solidFill>
            <a:srgbClr val="FA4616"/>
          </a:solidFill>
          <a:ln/>
        </p:spPr>
      </p:sp>
      <p:sp>
        <p:nvSpPr>
          <p:cNvPr id="33" name="Text 30"/>
          <p:cNvSpPr/>
          <p:nvPr/>
        </p:nvSpPr>
        <p:spPr>
          <a:xfrm>
            <a:off x="694944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targets ≥ 44 px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949440" y="46451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Floor-plan zones and nav bar items sized for thumbs, not cursors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675120" y="5074920"/>
            <a:ext cx="182880" cy="182880"/>
          </a:xfrm>
          <a:prstGeom prst="ellipse">
            <a:avLst/>
          </a:prstGeom>
          <a:solidFill>
            <a:srgbClr val="FA4616"/>
          </a:solidFill>
          <a:ln/>
        </p:spPr>
      </p:sp>
      <p:sp>
        <p:nvSpPr>
          <p:cNvPr id="36" name="Text 33"/>
          <p:cNvSpPr/>
          <p:nvPr/>
        </p:nvSpPr>
        <p:spPr>
          <a:xfrm>
            <a:off x="6949440" y="4983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+ ARIA labels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949440" y="5239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headings, and SVG titles readable by screen readers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675120" y="5669280"/>
            <a:ext cx="182880" cy="182880"/>
          </a:xfrm>
          <a:prstGeom prst="ellipse">
            <a:avLst/>
          </a:prstGeom>
          <a:solidFill>
            <a:srgbClr val="FA4616"/>
          </a:solidFill>
          <a:ln/>
        </p:spPr>
      </p:sp>
      <p:sp>
        <p:nvSpPr>
          <p:cNvPr id="39" name="Text 36"/>
          <p:cNvSpPr/>
          <p:nvPr/>
        </p:nvSpPr>
        <p:spPr>
          <a:xfrm>
            <a:off x="6949440" y="5577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Reduced-motion respected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949440" y="58338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live-dot pulse honours prefers-reduced-motion (future polish)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42" name="Text 39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Client &amp; Accessibility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772400" y="653796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Finder  ·  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A46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SUSTAINABILITY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budget and lifecycle choices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POWER BUDGET (5 V USB-C)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926080" cy="384048"/>
          </a:xfrm>
          <a:prstGeom prst="rect">
            <a:avLst/>
          </a:prstGeom>
          <a:solidFill>
            <a:srgbClr val="1A3A6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1554480" cy="384048"/>
          </a:xfrm>
          <a:prstGeom prst="rect">
            <a:avLst/>
          </a:prstGeom>
          <a:solidFill>
            <a:srgbClr val="1A3A6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7830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draw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783080"/>
            <a:ext cx="1097280" cy="384048"/>
          </a:xfrm>
          <a:prstGeom prst="rect">
            <a:avLst/>
          </a:prstGeom>
          <a:solidFill>
            <a:srgbClr val="1A3A6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78308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1463040" cy="384048"/>
          </a:xfrm>
          <a:prstGeom prst="rect">
            <a:avLst/>
          </a:prstGeom>
          <a:solidFill>
            <a:srgbClr val="1A3A6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783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draw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67128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671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ESP32-WROOM-32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216712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167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~160 mA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16712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1671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16712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1671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 mA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551176"/>
            <a:ext cx="2926080" cy="384048"/>
          </a:xfrm>
          <a:prstGeom prst="rect">
            <a:avLst/>
          </a:prstGeom>
          <a:solidFill>
            <a:srgbClr val="E8EE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55117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 microphone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551176"/>
            <a:ext cx="1554480" cy="384048"/>
          </a:xfrm>
          <a:prstGeom prst="rect">
            <a:avLst/>
          </a:prstGeom>
          <a:solidFill>
            <a:srgbClr val="E8EE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5511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mA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551176"/>
            <a:ext cx="1097280" cy="384048"/>
          </a:xfrm>
          <a:prstGeom prst="rect">
            <a:avLst/>
          </a:prstGeom>
          <a:solidFill>
            <a:srgbClr val="E8EE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5511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551176"/>
            <a:ext cx="1463040" cy="384048"/>
          </a:xfrm>
          <a:prstGeom prst="rect">
            <a:avLst/>
          </a:prstGeom>
          <a:solidFill>
            <a:srgbClr val="E8EE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55117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mA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935224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9352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IMU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2935224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293522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mA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2935224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93522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293522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29352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mA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319272"/>
            <a:ext cx="2926080" cy="384048"/>
          </a:xfrm>
          <a:prstGeom prst="rect">
            <a:avLst/>
          </a:prstGeom>
          <a:solidFill>
            <a:srgbClr val="E8EE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31927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83280" y="3319272"/>
            <a:ext cx="1554480" cy="384048"/>
          </a:xfrm>
          <a:prstGeom prst="rect">
            <a:avLst/>
          </a:prstGeom>
          <a:solidFill>
            <a:srgbClr val="E8EE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33192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37760" y="3319272"/>
            <a:ext cx="1097280" cy="384048"/>
          </a:xfrm>
          <a:prstGeom prst="rect">
            <a:avLst/>
          </a:prstGeom>
          <a:solidFill>
            <a:srgbClr val="E8EE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331927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35040" y="3319272"/>
            <a:ext cx="1463040" cy="384048"/>
          </a:xfrm>
          <a:prstGeom prst="rect">
            <a:avLst/>
          </a:prstGeom>
          <a:solidFill>
            <a:srgbClr val="E8EE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33192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 mA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3703320"/>
            <a:ext cx="2926080" cy="384048"/>
          </a:xfrm>
          <a:prstGeom prst="rect">
            <a:avLst/>
          </a:prstGeom>
          <a:solidFill>
            <a:srgbClr val="FFE6D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7033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 total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383280" y="3703320"/>
            <a:ext cx="1554480" cy="384048"/>
          </a:xfrm>
          <a:prstGeom prst="rect">
            <a:avLst/>
          </a:prstGeom>
          <a:solidFill>
            <a:srgbClr val="FFE6D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0" y="3703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937760" y="3703320"/>
            <a:ext cx="1097280" cy="384048"/>
          </a:xfrm>
          <a:prstGeom prst="rect">
            <a:avLst/>
          </a:prstGeom>
          <a:solidFill>
            <a:srgbClr val="FFE6D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37033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035040" y="3703320"/>
            <a:ext cx="1463040" cy="384048"/>
          </a:xfrm>
          <a:prstGeom prst="rect">
            <a:avLst/>
          </a:prstGeom>
          <a:solidFill>
            <a:srgbClr val="FFE6D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0" y="3703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102 mA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4087368"/>
            <a:ext cx="2926080" cy="384048"/>
          </a:xfrm>
          <a:prstGeom prst="rect">
            <a:avLst/>
          </a:prstGeom>
          <a:solidFill>
            <a:srgbClr val="FFE6D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408736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total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383280" y="4087368"/>
            <a:ext cx="1554480" cy="384048"/>
          </a:xfrm>
          <a:prstGeom prst="rect">
            <a:avLst/>
          </a:prstGeom>
          <a:solidFill>
            <a:srgbClr val="FFE6D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0" y="40873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937760" y="4087368"/>
            <a:ext cx="1097280" cy="384048"/>
          </a:xfrm>
          <a:prstGeom prst="rect">
            <a:avLst/>
          </a:prstGeom>
          <a:solidFill>
            <a:srgbClr val="FFE6D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0" y="40873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035040" y="4087368"/>
            <a:ext cx="1463040" cy="384048"/>
          </a:xfrm>
          <a:prstGeom prst="rect">
            <a:avLst/>
          </a:prstGeom>
          <a:solidFill>
            <a:srgbClr val="FFE6D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40873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180 mA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456285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bench — numbers include brownout margin. Idle-mode optimisation is the next step (see right).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366760" y="1417320"/>
            <a:ext cx="3383280" cy="49377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pic>
        <p:nvPicPr>
          <p:cNvPr id="6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600200"/>
            <a:ext cx="502920" cy="502920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914400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DEVELOPMENT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854964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8549640" y="2423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aggregates; sensor nodes do the cheap work. Future deep-sleep cycle targets &lt;20 mA average.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854964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8549640" y="3429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modules, pluggable sensors. A dead IMU swaps in a minute without reflashing.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854964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SHELL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8549640" y="44348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 filament, ~150 g per enclosure. Recyclable through the college makerspace programme.</a:t>
            </a:r>
            <a:endParaRPr lang="en-US" sz="1100" dirty="0"/>
          </a:p>
        </p:txBody>
      </p:sp>
      <p:sp>
        <p:nvSpPr>
          <p:cNvPr id="72" name="Text 69"/>
          <p:cNvSpPr/>
          <p:nvPr/>
        </p:nvSpPr>
        <p:spPr>
          <a:xfrm>
            <a:off x="8549640" y="5166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8549640" y="5440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firmware path is planned; remote tamper-reset already implemented via the database.</a:t>
            </a:r>
            <a:endParaRPr lang="en-US" sz="1100" dirty="0"/>
          </a:p>
        </p:txBody>
      </p:sp>
      <p:sp>
        <p:nvSpPr>
          <p:cNvPr id="74" name="Shape 7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75" name="Text 72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Sustainability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7772400" y="653796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Finder  ·  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A46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 and what we hardened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868680"/>
          </a:xfrm>
          <a:prstGeom prst="rect">
            <a:avLst/>
          </a:prstGeom>
          <a:solidFill>
            <a:srgbClr val="0E2548"/>
          </a:solidFill>
          <a:ln/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54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32588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hardware in a library, open campus Wi-Fi, and a microphone sensor — the risks are privacy (audio), data injection (spoofed nodes), and physical tamper.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514600"/>
            <a:ext cx="91440" cy="1783080"/>
          </a:xfrm>
          <a:prstGeom prst="rect">
            <a:avLst/>
          </a:prstGeom>
          <a:solidFill>
            <a:srgbClr val="FA461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889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697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3716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exfiltration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371600" y="3383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371600" y="36118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DSP on-device. Only a dB integer leaves the node — raw audio is never buffered long enough to transmit.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251460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2514600"/>
            <a:ext cx="91440" cy="1783080"/>
          </a:xfrm>
          <a:prstGeom prst="rect">
            <a:avLst/>
          </a:prstGeom>
          <a:solidFill>
            <a:srgbClr val="FA461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78892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23760" y="2697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22376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223760" y="3383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223760" y="36118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⇄ Firebase runs over TLS 1.2. Cloud Function rejects any POST missing a matching API key.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448056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4480560"/>
            <a:ext cx="91440" cy="1783080"/>
          </a:xfrm>
          <a:prstGeom prst="rect">
            <a:avLst/>
          </a:prstGeom>
          <a:solidFill>
            <a:srgbClr val="FA461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75488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4663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371600" y="4892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sensor injection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371600" y="5349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371600" y="55778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only unpacks packets from known ESP-NOW peers. Cloud writes validate the node_id allow-list.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309360" y="448056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309360" y="4480560"/>
            <a:ext cx="91440" cy="1783080"/>
          </a:xfrm>
          <a:prstGeom prst="rect">
            <a:avLst/>
          </a:prstGeom>
          <a:solidFill>
            <a:srgbClr val="FA4616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754880"/>
            <a:ext cx="502920" cy="5029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23760" y="4663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7223760" y="4892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tamper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7223760" y="5349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223760" y="55778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flags shock/tilt. Gateway writes tamper:true; the UI shows the zone as 'Unreliable' until an admin resets it.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38" name="Text 31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Security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7772400" y="653796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Finder  ·  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A46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use ML — here's where it would go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669280" cy="493776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45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STATISTICAL BASELINE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7160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"Usually busy"-style predictions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242316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today is a deterministic lookup:  per-hour time-of-day multiplier × weekend factor × per-zone base level.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3246120"/>
            <a:ext cx="5257800" cy="1828800"/>
          </a:xfrm>
          <a:prstGeom prst="rect">
            <a:avLst/>
          </a:prstGeom>
          <a:solidFill>
            <a:srgbClr val="0E2548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33756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predictNoise(zone, hoursFromNow)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hour = (now + hoursFromNow) % 24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weekendFactor = isWeekend ? 0.73 : 1.0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zone.baseNoise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 TIME_MULTIPLIERS[hour]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 weekendFactor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516636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runs client-side, zero inference cost — but misses one-off events (exams, gamedays).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141732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1417320"/>
            <a:ext cx="5349240" cy="548640"/>
          </a:xfrm>
          <a:prstGeom prst="rect">
            <a:avLst/>
          </a:prstGeom>
          <a:solidFill>
            <a:srgbClr val="FA461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087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95160" y="1417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— WHERE ML WOULD HELP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629400" y="2148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Short-horizon forecasting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629400" y="242316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Seasonal-ARIMA (or Prophet) trained per zone on 2–4 weeks of 5-min averages. Target the 30–120 minute window — when will it quiet down?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629400" y="3172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629400" y="344728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IsolationForest on (dB, accel, distance) to flag events the static threshold misses — e.g. a spike that isn't tamper but isn't normal chatter either.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629400" y="41970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629400" y="447141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backfill from the Firebase readings we're already collecting. Labels for 'actually quiet / not quiet' come from an in-app thumbs-up/down.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629400" y="52212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629400" y="549554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on predicted dB (target &lt; 4 dB), and classification F1 on the 3-way Quiet/Moderate/Loud label (target &gt; 0.85, per zone).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26" name="Text 22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7772400" y="653796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Finder  ·  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A46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and collaboration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TIMELINE · JAN – APR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8960" y="173736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2011680"/>
            <a:ext cx="0" cy="2926080"/>
          </a:xfrm>
          <a:prstGeom prst="line">
            <a:avLst/>
          </a:prstGeom>
          <a:noFill/>
          <a:ln w="6350">
            <a:solidFill>
              <a:srgbClr val="D8DEE9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234940" y="173736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34940" y="2011680"/>
            <a:ext cx="0" cy="2926080"/>
          </a:xfrm>
          <a:prstGeom prst="line">
            <a:avLst/>
          </a:prstGeom>
          <a:noFill/>
          <a:ln w="6350">
            <a:solidFill>
              <a:srgbClr val="D8DEE9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360920" y="173736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60920" y="2011680"/>
            <a:ext cx="0" cy="2926080"/>
          </a:xfrm>
          <a:prstGeom prst="line">
            <a:avLst/>
          </a:prstGeom>
          <a:noFill/>
          <a:ln w="6350">
            <a:solidFill>
              <a:srgbClr val="D8DEE9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486900" y="173736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486900" y="2011680"/>
            <a:ext cx="0" cy="2926080"/>
          </a:xfrm>
          <a:prstGeom prst="line">
            <a:avLst/>
          </a:prstGeom>
          <a:noFill/>
          <a:ln w="6350">
            <a:solidFill>
              <a:srgbClr val="D8DEE9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1612880" y="2011680"/>
            <a:ext cx="0" cy="2926080"/>
          </a:xfrm>
          <a:prstGeom prst="line">
            <a:avLst/>
          </a:prstGeom>
          <a:noFill/>
          <a:ln w="6350">
            <a:solidFill>
              <a:srgbClr val="D8DEE9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5720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+ proposal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2103120"/>
            <a:ext cx="2125980" cy="182880"/>
          </a:xfrm>
          <a:prstGeom prst="rect">
            <a:avLst/>
          </a:prstGeom>
          <a:solidFill>
            <a:srgbClr val="2C569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procurement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4548" y="2377440"/>
            <a:ext cx="1700784" cy="182880"/>
          </a:xfrm>
          <a:prstGeom prst="rect">
            <a:avLst/>
          </a:prstGeom>
          <a:solidFill>
            <a:srgbClr val="2C569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— sensor sampling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34940" y="2651760"/>
            <a:ext cx="2551176" cy="1828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 gateway firmware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10528" y="2926080"/>
            <a:ext cx="2125980" cy="1828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+ cloud functions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35724" y="3200400"/>
            <a:ext cx="1275588" cy="1828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+ heat map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60920" y="3474720"/>
            <a:ext cx="2551176" cy="1828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demo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52994" y="3680460"/>
            <a:ext cx="410337" cy="320040"/>
          </a:xfrm>
          <a:prstGeom prst="diamond">
            <a:avLst/>
          </a:prstGeom>
          <a:solidFill>
            <a:srgbClr val="FA46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enclosures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36508" y="4023360"/>
            <a:ext cx="1488186" cy="1828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tamper path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61704" y="4297680"/>
            <a:ext cx="1700784" cy="18288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 + presentation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124694" y="4572000"/>
            <a:ext cx="1381887" cy="18288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983480"/>
            <a:ext cx="201168" cy="164592"/>
          </a:xfrm>
          <a:prstGeom prst="rect">
            <a:avLst/>
          </a:prstGeom>
          <a:solidFill>
            <a:srgbClr val="2C569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937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03120" y="4983480"/>
            <a:ext cx="201168" cy="1645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8" name="Text 36"/>
          <p:cNvSpPr/>
          <p:nvPr/>
        </p:nvSpPr>
        <p:spPr>
          <a:xfrm>
            <a:off x="2377440" y="4937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49040" y="4983480"/>
            <a:ext cx="201168" cy="164592"/>
          </a:xfrm>
          <a:prstGeom prst="rect">
            <a:avLst/>
          </a:prstGeom>
          <a:solidFill>
            <a:srgbClr val="FA4616"/>
          </a:solidFill>
          <a:ln/>
        </p:spPr>
      </p:sp>
      <p:sp>
        <p:nvSpPr>
          <p:cNvPr id="40" name="Text 38"/>
          <p:cNvSpPr/>
          <p:nvPr/>
        </p:nvSpPr>
        <p:spPr>
          <a:xfrm>
            <a:off x="4023360" y="4937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94960" y="4983480"/>
            <a:ext cx="201168" cy="16459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0" y="4937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5303520"/>
            <a:ext cx="11247120" cy="1143000"/>
          </a:xfrm>
          <a:prstGeom prst="rect">
            <a:avLst/>
          </a:prstGeom>
          <a:solidFill>
            <a:srgbClr val="0E2548"/>
          </a:solidFill>
          <a:ln/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0"/>
            <a:ext cx="685800" cy="68580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554480" y="5394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INSIGHTS · SINCE MIDPOINT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645920" y="5715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1645920" y="6035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contributors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3977640" y="5715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9" name="Text 46"/>
          <p:cNvSpPr/>
          <p:nvPr/>
        </p:nvSpPr>
        <p:spPr>
          <a:xfrm>
            <a:off x="3977640" y="6035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codebases · firmware + web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6309360" y="5715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2000" dirty="0"/>
          </a:p>
        </p:txBody>
      </p:sp>
      <p:sp>
        <p:nvSpPr>
          <p:cNvPr id="51" name="Text 48"/>
          <p:cNvSpPr/>
          <p:nvPr/>
        </p:nvSpPr>
        <p:spPr>
          <a:xfrm>
            <a:off x="6309360" y="6035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touched ≥ 2 areas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8641080" y="5715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53" name="Text 50"/>
          <p:cNvSpPr/>
          <p:nvPr/>
        </p:nvSpPr>
        <p:spPr>
          <a:xfrm>
            <a:off x="8641080" y="6035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blocked on a single person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55" name="Text 52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7772400" y="653796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Finder  ·  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5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A461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ESP32 sensor nodes · one gateway · live web dashboard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606040"/>
            <a:ext cx="10332720" cy="10972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606040"/>
            <a:ext cx="91440" cy="1097280"/>
          </a:xfrm>
          <a:prstGeom prst="rect">
            <a:avLst/>
          </a:prstGeom>
          <a:solidFill>
            <a:srgbClr val="FA461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8803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743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READING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920240" y="2971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Decibel value streams in under 30 seconds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920240" y="331927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play a calibrated noise clip. Watch the floor-plan zone change colour Green → Yellow → Red in real time.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" y="3840480"/>
            <a:ext cx="10332720" cy="10972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3840480"/>
            <a:ext cx="91440" cy="1097280"/>
          </a:xfrm>
          <a:prstGeom prst="rect">
            <a:avLst/>
          </a:prstGeom>
          <a:solidFill>
            <a:srgbClr val="FA46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41148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20240" y="3977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ALERT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92024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movement flips the zone to 'Unreliable'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920240" y="455371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us will pick up a node. The IMU threshold fires, the gateway writes tamper:true, the UI drops that zone from the quiet-spots list.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14400" y="5074920"/>
            <a:ext cx="10332720" cy="10972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8" name="Shape 14"/>
          <p:cNvSpPr/>
          <p:nvPr/>
        </p:nvSpPr>
        <p:spPr>
          <a:xfrm>
            <a:off x="914400" y="5074920"/>
            <a:ext cx="91440" cy="1097280"/>
          </a:xfrm>
          <a:prstGeom prst="rect">
            <a:avLst/>
          </a:prstGeom>
          <a:solidFill>
            <a:srgbClr val="FA461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534924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20240" y="5212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920240" y="5440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+1 hr / +2 hr toggle re-colours every zone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920240" y="578815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that the historical baseline is wired through to the same heat-map component — not a separate screen.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4" name="Text 19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of Functionality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7772400" y="653796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Finder  ·  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FA46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build next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CI/CD TESTING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1031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9202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push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42032" y="2331720"/>
            <a:ext cx="182880" cy="137160"/>
          </a:xfrm>
          <a:prstGeom prst="line">
            <a:avLst/>
          </a:prstGeom>
          <a:noFill/>
          <a:ln w="38100">
            <a:solidFill>
              <a:srgbClr val="FA461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2542032" y="2468880"/>
            <a:ext cx="182880" cy="137160"/>
          </a:xfrm>
          <a:prstGeom prst="line">
            <a:avLst/>
          </a:prstGeom>
          <a:noFill/>
          <a:ln w="38100">
            <a:solidFill>
              <a:srgbClr val="FA461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4640" y="1783080"/>
            <a:ext cx="21031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9202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464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926080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PlatformIO + Vite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919472" y="2331720"/>
            <a:ext cx="182880" cy="137160"/>
          </a:xfrm>
          <a:prstGeom prst="line">
            <a:avLst/>
          </a:prstGeom>
          <a:noFill/>
          <a:ln w="38100">
            <a:solidFill>
              <a:srgbClr val="FA461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 flipV="1">
            <a:off x="4919472" y="2468880"/>
            <a:ext cx="182880" cy="137160"/>
          </a:xfrm>
          <a:prstGeom prst="line">
            <a:avLst/>
          </a:prstGeom>
          <a:noFill/>
          <a:ln w="38100">
            <a:solidFill>
              <a:srgbClr val="FA461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12080" y="1783080"/>
            <a:ext cx="21031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92024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303520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· dB math, predict fn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296912" y="2331720"/>
            <a:ext cx="182880" cy="137160"/>
          </a:xfrm>
          <a:prstGeom prst="line">
            <a:avLst/>
          </a:prstGeom>
          <a:noFill/>
          <a:ln w="38100">
            <a:solidFill>
              <a:srgbClr val="FA461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 flipV="1">
            <a:off x="7296912" y="2468880"/>
            <a:ext cx="182880" cy="137160"/>
          </a:xfrm>
          <a:prstGeom prst="line">
            <a:avLst/>
          </a:prstGeom>
          <a:noFill/>
          <a:ln w="38100">
            <a:solidFill>
              <a:srgbClr val="FA461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589520" y="1783080"/>
            <a:ext cx="21031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92024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8952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680960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emulator + replay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9674352" y="2331720"/>
            <a:ext cx="182880" cy="137160"/>
          </a:xfrm>
          <a:prstGeom prst="line">
            <a:avLst/>
          </a:prstGeom>
          <a:noFill/>
          <a:ln w="38100">
            <a:solidFill>
              <a:srgbClr val="FA461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 flipV="1">
            <a:off x="9674352" y="2468880"/>
            <a:ext cx="182880" cy="137160"/>
          </a:xfrm>
          <a:prstGeom prst="line">
            <a:avLst/>
          </a:prstGeom>
          <a:noFill/>
          <a:ln w="38100">
            <a:solidFill>
              <a:srgbClr val="FA461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966960" y="1783080"/>
            <a:ext cx="21031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1920240"/>
            <a:ext cx="548640" cy="5486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96696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0058400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or staging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57200" y="33375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4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WE'D GATE ON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457200" y="3657600"/>
            <a:ext cx="2139696" cy="10058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36" name="Text 29"/>
          <p:cNvSpPr/>
          <p:nvPr/>
        </p:nvSpPr>
        <p:spPr>
          <a:xfrm>
            <a:off x="457200" y="370332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 dB</a:t>
            </a:r>
            <a:endParaRPr lang="en-US" sz="2200" dirty="0"/>
          </a:p>
        </p:txBody>
      </p:sp>
      <p:sp>
        <p:nvSpPr>
          <p:cNvPr id="37" name="Text 30"/>
          <p:cNvSpPr/>
          <p:nvPr/>
        </p:nvSpPr>
        <p:spPr>
          <a:xfrm>
            <a:off x="548640" y="41605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accuracy vs reference meter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2734056" y="3657600"/>
            <a:ext cx="2139696" cy="10058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39" name="Text 32"/>
          <p:cNvSpPr/>
          <p:nvPr/>
        </p:nvSpPr>
        <p:spPr>
          <a:xfrm>
            <a:off x="2734056" y="370332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 s</a:t>
            </a:r>
            <a:endParaRPr lang="en-US" sz="2200" dirty="0"/>
          </a:p>
        </p:txBody>
      </p:sp>
      <p:sp>
        <p:nvSpPr>
          <p:cNvPr id="40" name="Text 33"/>
          <p:cNvSpPr/>
          <p:nvPr/>
        </p:nvSpPr>
        <p:spPr>
          <a:xfrm>
            <a:off x="2825496" y="41605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sound-event → dashboard latency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010912" y="3657600"/>
            <a:ext cx="2139696" cy="10058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42" name="Text 35"/>
          <p:cNvSpPr/>
          <p:nvPr/>
        </p:nvSpPr>
        <p:spPr>
          <a:xfrm>
            <a:off x="5010912" y="370332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5 %</a:t>
            </a:r>
            <a:endParaRPr lang="en-US" sz="2200" dirty="0"/>
          </a:p>
        </p:txBody>
      </p:sp>
      <p:sp>
        <p:nvSpPr>
          <p:cNvPr id="43" name="Text 36"/>
          <p:cNvSpPr/>
          <p:nvPr/>
        </p:nvSpPr>
        <p:spPr>
          <a:xfrm>
            <a:off x="5102352" y="41605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false-positive rate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7287768" y="3657600"/>
            <a:ext cx="2139696" cy="10058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45" name="Text 38"/>
          <p:cNvSpPr/>
          <p:nvPr/>
        </p:nvSpPr>
        <p:spPr>
          <a:xfrm>
            <a:off x="7287768" y="370332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95 %</a:t>
            </a:r>
            <a:endParaRPr lang="en-US" sz="2200" dirty="0"/>
          </a:p>
        </p:txBody>
      </p:sp>
      <p:sp>
        <p:nvSpPr>
          <p:cNvPr id="46" name="Text 39"/>
          <p:cNvSpPr/>
          <p:nvPr/>
        </p:nvSpPr>
        <p:spPr>
          <a:xfrm>
            <a:off x="7379208" y="41605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uptime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9564624" y="3657600"/>
            <a:ext cx="2139696" cy="10058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48" name="Text 41"/>
          <p:cNvSpPr/>
          <p:nvPr/>
        </p:nvSpPr>
        <p:spPr>
          <a:xfrm>
            <a:off x="9564624" y="370332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200" dirty="0"/>
          </a:p>
        </p:txBody>
      </p:sp>
      <p:sp>
        <p:nvSpPr>
          <p:cNvPr id="49" name="Text 42"/>
          <p:cNvSpPr/>
          <p:nvPr/>
        </p:nvSpPr>
        <p:spPr>
          <a:xfrm>
            <a:off x="9656064" y="41605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predicted dB (per zone)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457200" y="4892040"/>
            <a:ext cx="11247120" cy="146304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074920"/>
            <a:ext cx="502920" cy="502920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132588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ENERGY WIN</a:t>
            </a:r>
            <a:endParaRPr lang="en-US" sz="1000" dirty="0"/>
          </a:p>
        </p:txBody>
      </p:sp>
      <p:sp>
        <p:nvSpPr>
          <p:cNvPr id="53" name="Text 45"/>
          <p:cNvSpPr/>
          <p:nvPr/>
        </p:nvSpPr>
        <p:spPr>
          <a:xfrm>
            <a:off x="1325880" y="52852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Deep-sleep between samples</a:t>
            </a:r>
            <a:endParaRPr lang="en-US" sz="1600" dirty="0"/>
          </a:p>
        </p:txBody>
      </p:sp>
      <p:sp>
        <p:nvSpPr>
          <p:cNvPr id="54" name="Text 46"/>
          <p:cNvSpPr/>
          <p:nvPr/>
        </p:nvSpPr>
        <p:spPr>
          <a:xfrm>
            <a:off x="1325880" y="55961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nodes sleep ~2.7 s out of every 3 — ESP32 RTC wakes the I²S peripheral, samples, sleeps again. Projected average: ~10 mA (from ~102 mA). Combined with a 2000 mAh LiPo and a small solar trickle-charger, we could untether nodes from wall power and get useful battery life without grid access.</a:t>
            </a:r>
            <a:endParaRPr lang="en-US" sz="1100" dirty="0"/>
          </a:p>
        </p:txBody>
      </p:sp>
      <p:sp>
        <p:nvSpPr>
          <p:cNvPr id="55" name="Shap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56" name="Text 48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000" dirty="0"/>
          </a:p>
        </p:txBody>
      </p:sp>
      <p:sp>
        <p:nvSpPr>
          <p:cNvPr id="57" name="Text 49"/>
          <p:cNvSpPr/>
          <p:nvPr/>
        </p:nvSpPr>
        <p:spPr>
          <a:xfrm>
            <a:off x="7772400" y="653796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Finder  ·  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 Finder — Final Presentation</dc:title>
  <dc:subject>PptxGenJS Presentation</dc:subject>
  <dc:creator>Aschenbrenner, Nibhanupudy, Krasuski, Supre</dc:creator>
  <cp:lastModifiedBy>Aschenbrenner, Nibhanupudy, Krasuski, Supre</cp:lastModifiedBy>
  <cp:revision>1</cp:revision>
  <dcterms:created xsi:type="dcterms:W3CDTF">2026-04-16T15:59:11Z</dcterms:created>
  <dcterms:modified xsi:type="dcterms:W3CDTF">2026-04-16T15:59:11Z</dcterms:modified>
</cp:coreProperties>
</file>